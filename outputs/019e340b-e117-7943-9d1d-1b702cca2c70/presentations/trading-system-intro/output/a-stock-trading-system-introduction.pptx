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c2cf79b7ae47bc" /><Relationship Type="http://schemas.openxmlformats.org/officeDocument/2006/relationships/extended-properties" Target="/docProps/app.xml" Id="Rdf51cfd957f64c12" /><Relationship Type="http://schemas.openxmlformats.org/officeDocument/2006/relationships/officeDocument" Target="/ppt/presentation.xml" Id="R7c042002b9ee47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61aa655cb948b2"/>
  </p:sldMasterIdLst>
  <p:notesMasterIdLst>
    <p:notesMasterId xmlns:r="http://schemas.openxmlformats.org/officeDocument/2006/relationships" r:id="R2400da71c85f45da"/>
  </p:notesMasterIdLst>
  <p:sldIdLst>
    <p:sldId xmlns:r="http://schemas.openxmlformats.org/officeDocument/2006/relationships" id="256" r:id="R7889a66d9a0b474d"/>
    <p:sldId xmlns:r="http://schemas.openxmlformats.org/officeDocument/2006/relationships" id="257" r:id="R5ffeacb1f7ef406e"/>
    <p:sldId xmlns:r="http://schemas.openxmlformats.org/officeDocument/2006/relationships" id="258" r:id="R02e36f69cc264de2"/>
    <p:sldId xmlns:r="http://schemas.openxmlformats.org/officeDocument/2006/relationships" id="259" r:id="Ra344a5b308af45d1"/>
    <p:sldId xmlns:r="http://schemas.openxmlformats.org/officeDocument/2006/relationships" id="260" r:id="R239ee59b6e8a4c77"/>
    <p:sldId xmlns:r="http://schemas.openxmlformats.org/officeDocument/2006/relationships" id="261" r:id="R47f9a5522cb14929"/>
    <p:sldId xmlns:r="http://schemas.openxmlformats.org/officeDocument/2006/relationships" id="262" r:id="Rc497788f5a4342fa"/>
    <p:sldId xmlns:r="http://schemas.openxmlformats.org/officeDocument/2006/relationships" id="263" r:id="Raf23371b811b4598"/>
    <p:sldId xmlns:r="http://schemas.openxmlformats.org/officeDocument/2006/relationships" id="264" r:id="Rd8d9d63a11034d16"/>
    <p:sldId xmlns:r="http://schemas.openxmlformats.org/officeDocument/2006/relationships" id="265" r:id="R692bb82300094a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1aa655cb948b2" /><Relationship Type="http://schemas.openxmlformats.org/officeDocument/2006/relationships/theme" Target="/ppt/theme/theme1.xml" Id="R912bb133da8646b4" /><Relationship Type="http://schemas.openxmlformats.org/officeDocument/2006/relationships/notesMaster" Target="/ppt/notesMasters/notesMaster1.xml" Id="R2400da71c85f45da" /><Relationship Type="http://schemas.openxmlformats.org/officeDocument/2006/relationships/presProps" Target="/ppt/presProps.xml" Id="Ra16065a408ab4382" /><Relationship Type="http://schemas.openxmlformats.org/officeDocument/2006/relationships/viewProps" Target="/ppt/viewProps.xml" Id="Rc82a2cd546d1401c" /><Relationship Type="http://schemas.openxmlformats.org/officeDocument/2006/relationships/tableStyles" Target="/ppt/tableStyles.xml" Id="R6c02358492ca4595" /><Relationship Type="http://schemas.openxmlformats.org/officeDocument/2006/relationships/slide" Target="/ppt/slides/slide1.xml" Id="R7889a66d9a0b474d" /><Relationship Type="http://schemas.openxmlformats.org/officeDocument/2006/relationships/slide" Target="/ppt/slides/slide2.xml" Id="R5ffeacb1f7ef406e" /><Relationship Type="http://schemas.openxmlformats.org/officeDocument/2006/relationships/slide" Target="/ppt/slides/slide3.xml" Id="R02e36f69cc264de2" /><Relationship Type="http://schemas.openxmlformats.org/officeDocument/2006/relationships/slide" Target="/ppt/slides/slide4.xml" Id="Ra344a5b308af45d1" /><Relationship Type="http://schemas.openxmlformats.org/officeDocument/2006/relationships/slide" Target="/ppt/slides/slide5.xml" Id="R239ee59b6e8a4c77" /><Relationship Type="http://schemas.openxmlformats.org/officeDocument/2006/relationships/slide" Target="/ppt/slides/slide6.xml" Id="R47f9a5522cb14929" /><Relationship Type="http://schemas.openxmlformats.org/officeDocument/2006/relationships/slide" Target="/ppt/slides/slide7.xml" Id="Rc497788f5a4342fa" /><Relationship Type="http://schemas.openxmlformats.org/officeDocument/2006/relationships/slide" Target="/ppt/slides/slide8.xml" Id="Raf23371b811b4598" /><Relationship Type="http://schemas.openxmlformats.org/officeDocument/2006/relationships/slide" Target="/ppt/slides/slide9.xml" Id="Rd8d9d63a11034d16" /><Relationship Type="http://schemas.openxmlformats.org/officeDocument/2006/relationships/slide" Target="/ppt/slides/slide10.xml" Id="R692bb82300094a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e66c46de4a041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3de31296eb4cb0" /><Relationship Type="http://schemas.openxmlformats.org/officeDocument/2006/relationships/notesMaster" Target="/ppt/notesMasters/notesMaster1.xml" Id="R9c4b0538873f49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4d61b0b6184073" /><Relationship Type="http://schemas.openxmlformats.org/officeDocument/2006/relationships/notesMaster" Target="/ppt/notesMasters/notesMaster1.xml" Id="R7040d2a62bb04d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983df160bc4471" /><Relationship Type="http://schemas.openxmlformats.org/officeDocument/2006/relationships/notesMaster" Target="/ppt/notesMasters/notesMaster1.xml" Id="R4151e114f7d448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d96ed7a84e4f3d" /><Relationship Type="http://schemas.openxmlformats.org/officeDocument/2006/relationships/notesMaster" Target="/ppt/notesMasters/notesMaster1.xml" Id="Re6dac23525494b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196625f3de41f8" /><Relationship Type="http://schemas.openxmlformats.org/officeDocument/2006/relationships/notesMaster" Target="/ppt/notesMasters/notesMaster1.xml" Id="R67baf7e4f51b4f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a185dfe82a48f6" /><Relationship Type="http://schemas.openxmlformats.org/officeDocument/2006/relationships/notesMaster" Target="/ppt/notesMasters/notesMaster1.xml" Id="R3ce359f6683f46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eaf2b32ca24cf8" /><Relationship Type="http://schemas.openxmlformats.org/officeDocument/2006/relationships/notesMaster" Target="/ppt/notesMasters/notesMaster1.xml" Id="R9343ffa99bd54a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de80ca50aa46f7" /><Relationship Type="http://schemas.openxmlformats.org/officeDocument/2006/relationships/notesMaster" Target="/ppt/notesMasters/notesMaster1.xml" Id="R874ecfe87a0d43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ece6628d1c4180" /><Relationship Type="http://schemas.openxmlformats.org/officeDocument/2006/relationships/notesMaster" Target="/ppt/notesMasters/notesMaster1.xml" Id="Rf3faa5536b3c49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135203320249f6" /><Relationship Type="http://schemas.openxmlformats.org/officeDocument/2006/relationships/notesMaster" Target="/ppt/notesMasters/notesMaster1.xml" Id="Ra13d5d284c1740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772bf2b2d4c7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07b67d340534b94" /><Relationship Type="http://schemas.openxmlformats.org/officeDocument/2006/relationships/slideLayout" Target="/ppt/slideLayouts/slideLayout2.xml" Id="R3c09a0f9d0014c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09a0f9d0014c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ecd4d91f184c2f" /><Relationship Type="http://schemas.openxmlformats.org/officeDocument/2006/relationships/image" Target="/ppt/media/image.png" Id="Rd2a0cd3301794f6c" /><Relationship Type="http://schemas.openxmlformats.org/officeDocument/2006/relationships/image" Target="/ppt/media/image.svg" Id="Rf1b1373b1d574fdf" /><Relationship Type="http://schemas.openxmlformats.org/officeDocument/2006/relationships/image" Target="/ppt/media/image2.png" Id="R07949c612d5f453c" /><Relationship Type="http://schemas.openxmlformats.org/officeDocument/2006/relationships/image" Target="/ppt/media/image2.svg" Id="Rc0a83365e1134ce6" /><Relationship Type="http://schemas.openxmlformats.org/officeDocument/2006/relationships/image" Target="/ppt/media/image3.png" Id="R949d81673b1b428b" /><Relationship Type="http://schemas.openxmlformats.org/officeDocument/2006/relationships/image" Target="/ppt/media/image3.svg" Id="Rc9dbf64659a0482a" /><Relationship Type="http://schemas.openxmlformats.org/officeDocument/2006/relationships/image" Target="/ppt/media/image4.png" Id="Rf801dd30f3b04b1e" /><Relationship Type="http://schemas.openxmlformats.org/officeDocument/2006/relationships/image" Target="/ppt/media/image4.svg" Id="R00cf1b5f91574927" /><Relationship Type="http://schemas.openxmlformats.org/officeDocument/2006/relationships/notesSlide" Target="/ppt/notesSlides/notesSlide1.xml" Id="R26c5bb6ff6ae47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c23c57a0fc43c4" /><Relationship Type="http://schemas.openxmlformats.org/officeDocument/2006/relationships/notesSlide" Target="/ppt/notesSlides/notesSlide2.xml" Id="R3be1dc9f540141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0fbe62df9e4100" /><Relationship Type="http://schemas.openxmlformats.org/officeDocument/2006/relationships/image" Target="/ppt/media/image5.png" Id="Reb82458234124d26" /><Relationship Type="http://schemas.openxmlformats.org/officeDocument/2006/relationships/image" Target="/ppt/media/image5.svg" Id="R32ae7ac8dca04a09" /><Relationship Type="http://schemas.openxmlformats.org/officeDocument/2006/relationships/image" Target="/ppt/media/image6.png" Id="Rae8acbb690704aa4" /><Relationship Type="http://schemas.openxmlformats.org/officeDocument/2006/relationships/image" Target="/ppt/media/image6.svg" Id="R797ab28072ca4108" /><Relationship Type="http://schemas.openxmlformats.org/officeDocument/2006/relationships/notesSlide" Target="/ppt/notesSlides/notesSlide3.xml" Id="R9ad2701d8fc54e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0c058e0442487c" /><Relationship Type="http://schemas.openxmlformats.org/officeDocument/2006/relationships/image" Target="/ppt/media/image7.png" Id="Rd3a48f6991674a23" /><Relationship Type="http://schemas.openxmlformats.org/officeDocument/2006/relationships/image" Target="/ppt/media/image7.svg" Id="R49ca181e43e64cf5" /><Relationship Type="http://schemas.openxmlformats.org/officeDocument/2006/relationships/image" Target="/ppt/media/image8.png" Id="R91eae54ec0384957" /><Relationship Type="http://schemas.openxmlformats.org/officeDocument/2006/relationships/image" Target="/ppt/media/image8.svg" Id="R1ff19951d3e343f2" /><Relationship Type="http://schemas.openxmlformats.org/officeDocument/2006/relationships/notesSlide" Target="/ppt/notesSlides/notesSlide4.xml" Id="Rb961b931afc94d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8d659cd823439d" /><Relationship Type="http://schemas.openxmlformats.org/officeDocument/2006/relationships/notesSlide" Target="/ppt/notesSlides/notesSlide5.xml" Id="R4e22d59845f04c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4e641a65ae4bbc" /><Relationship Type="http://schemas.openxmlformats.org/officeDocument/2006/relationships/notesSlide" Target="/ppt/notesSlides/notesSlide6.xml" Id="R23005993bedc48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b55704e604408a" /><Relationship Type="http://schemas.openxmlformats.org/officeDocument/2006/relationships/notesSlide" Target="/ppt/notesSlides/notesSlide7.xml" Id="Rb7e2e7e7055a4b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c50f7d1e414a1e" /><Relationship Type="http://schemas.openxmlformats.org/officeDocument/2006/relationships/notesSlide" Target="/ppt/notesSlides/notesSlide8.xml" Id="Rc046214fc1034d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18d3d867f14a8d" /><Relationship Type="http://schemas.openxmlformats.org/officeDocument/2006/relationships/notesSlide" Target="/ppt/notesSlides/notesSlide9.xml" Id="Rafb2d615e7994e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f43cd9103b49a9" /><Relationship Type="http://schemas.openxmlformats.org/officeDocument/2006/relationships/notesSlide" Target="/ppt/notesSlides/notesSlide10.xml" Id="Rb29fc80bd05e436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026683-7372-4469-ADB8-27FD70C2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56883-44C2-404E-80CF-B8D302A7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315C1-BE14-4D85-8CCC-530A1AC8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DBF9B-8469-4E5B-B551-1C627CED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8832B843-12D2-4298-8550-5E3DB531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43D23F67-E217-4A9D-B663-F554586E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D3C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7D3CF"/>
                </a:solidFill>
                <a:latin typeface="PingFang SC"/>
                <a:ea typeface="PingFang SC"/>
                <a:cs typeface="PingFang SC"/>
              </a:rPr>
              <a:t>系统介绍 / 2026-05-17 当前快照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63930-87B3-4BAF-911E-12FED615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E8E4"/>
                </a:solidFill>
                <a:latin typeface="SF Mono"/>
                <a:ea typeface="SF Mono"/>
                <a:cs typeface="SF Mono"/>
              </a:defRPr>
            </a:pPr>
            <a:r>
              <a:rPr sz="1500" b="1">
                <a:solidFill>
                  <a:srgbClr val="DDE8E4"/>
                </a:solidFill>
                <a:latin typeface="SF Mono"/>
                <a:ea typeface="SF Mono"/>
                <a:cs typeface="SF Mono"/>
              </a:rPr>
              <a:t>A-Stock Trading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7FB58-936E-49BA-B52D-77072546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609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DF8"/>
                </a:solidFill>
                <a:latin typeface="Songti SC"/>
                <a:ea typeface="Songti SC"/>
                <a:cs typeface="Songti SC"/>
              </a:defRPr>
            </a:pPr>
            <a:r>
              <a:rPr sz="3600" b="1">
                <a:solidFill>
                  <a:srgbClr val="FFFDF8"/>
                </a:solidFill>
                <a:latin typeface="Songti SC"/>
                <a:ea typeface="Songti SC"/>
                <a:cs typeface="Songti SC"/>
              </a:rPr>
              <a:t>可审计的半自动</a:t>
            </a:r>
          </a:p>
          <a:p xmlns:a="http://schemas.openxmlformats.org/drawingml/2006/main">
            <a:pPr algn="l">
              <a:defRPr sz="3600" b="1">
                <a:solidFill>
                  <a:srgbClr val="FFFDF8"/>
                </a:solidFill>
                <a:latin typeface="Songti SC"/>
                <a:ea typeface="Songti SC"/>
                <a:cs typeface="Songti SC"/>
              </a:defRPr>
            </a:pPr>
            <a:r>
              <a:rPr sz="3600" b="1">
                <a:solidFill>
                  <a:srgbClr val="FFFDF8"/>
                </a:solidFill>
                <a:latin typeface="Songti SC"/>
                <a:ea typeface="Songti SC"/>
                <a:cs typeface="Songti SC"/>
              </a:rPr>
              <a:t>A 股交易决策闭环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DFB9F-BDBE-491E-9F92-F5D754B0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5C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9C5C3"/>
                </a:solidFill>
                <a:latin typeface="PingFang SC"/>
                <a:ea typeface="PingFang SC"/>
                <a:cs typeface="PingFang SC"/>
              </a:rPr>
              <a:t>系统把数据采集、候选池、评分、风控、事件日志和报告投影接起来；真正的实盘下单仍保留人工确认。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19E57-1236-4DC5-9EA4-271C40EE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876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A"/>
          </a:solidFill>
          <a:ln xmlns:a="http://schemas.openxmlformats.org/drawingml/2006/main" w="9525">
            <a:solidFill>
              <a:srgbClr val="3157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E8DA1-80B9-491D-9928-2ECD5176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9065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DF8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FFFDF8"/>
                </a:solidFill>
                <a:latin typeface="Songti SC"/>
                <a:ea typeface="Songti SC"/>
                <a:cs typeface="Songti SC"/>
              </a:rPr>
              <a:t>3,472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BC456-A14C-482C-B04B-0D716292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478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rPr>
              <a:t>事件日志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83160-44AA-432F-848E-B5E138D9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123950"/>
            <a:ext cx="876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A"/>
          </a:solidFill>
          <a:ln xmlns:a="http://schemas.openxmlformats.org/drawingml/2006/main" w="9525">
            <a:solidFill>
              <a:srgbClr val="3157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EDD31-75DF-4357-8F8C-2EBF6CC2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9065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DF8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FFFDF8"/>
                </a:solidFill>
                <a:latin typeface="Songti SC"/>
                <a:ea typeface="Songti SC"/>
                <a:cs typeface="Songti SC"/>
              </a:rPr>
              <a:t>662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2C613-741E-43F0-94AF-1C2359D1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478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rPr>
              <a:t>运行记录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9A451-D38B-4734-B7E3-6A055D7E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123950"/>
            <a:ext cx="876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A"/>
          </a:solidFill>
          <a:ln xmlns:a="http://schemas.openxmlformats.org/drawingml/2006/main" w="9525">
            <a:solidFill>
              <a:srgbClr val="3157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7ADDF-C8FE-4CAF-ADCA-C1E5821C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390650"/>
            <a:ext cx="723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DF8"/>
                </a:solidFill>
                <a:latin typeface="Songti SC"/>
                <a:ea typeface="Songti SC"/>
                <a:cs typeface="Songti SC"/>
              </a:defRPr>
            </a:pPr>
            <a:r>
              <a:rPr sz="2250" b="1">
                <a:solidFill>
                  <a:srgbClr val="FFFDF8"/>
                </a:solidFill>
                <a:latin typeface="Songti SC"/>
                <a:ea typeface="Songti SC"/>
                <a:cs typeface="Songti SC"/>
              </a:rPr>
              <a:t>v3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3D433-4092-4440-A6B1-B296E217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0225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rPr>
              <a:t>MySQL 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343EB-5FB4-464B-8820-B0AA8941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23950"/>
            <a:ext cx="876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A"/>
          </a:solidFill>
          <a:ln xmlns:a="http://schemas.openxmlformats.org/drawingml/2006/main" w="9525">
            <a:solidFill>
              <a:srgbClr val="3157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12583-D944-415C-994B-7CBC43AA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39065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DF8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FFFDF8"/>
                </a:solidFill>
                <a:latin typeface="Songti SC"/>
                <a:ea typeface="Songti SC"/>
                <a:cs typeface="Songti SC"/>
              </a:rPr>
              <a:t>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8EE14-FFBC-4C30-B34A-11001B0E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478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rPr>
              <a:t>表检查 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10BC2A-081A-4B50-ADC8-359B9601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3905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31"/>
          </a:solidFill>
          <a:ln xmlns:a="http://schemas.openxmlformats.org/drawingml/2006/main" w="9525">
            <a:solidFill>
              <a:srgbClr val="3157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A22B7-8D93-4609-A985-0363D7B5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52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当前状态不是满仓进攻，而是谨慎观察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71F260-9574-473B-88CD-1D389D4B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57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94E512-C5F9-4A85-B4CB-7D5216E6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909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7D3CF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C7D3CF"/>
                </a:solidFill>
                <a:latin typeface="PingFang SC"/>
                <a:ea typeface="PingFang SC"/>
                <a:cs typeface="PingFang SC"/>
              </a:rPr>
              <a:t>系统健康：warning，但核心数据源无 required_missing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9E4098-3178-4EBB-BC83-67638089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62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70653A-28FD-4917-8708-1F164BCA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957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7D3CF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C7D3CF"/>
                </a:solidFill>
                <a:latin typeface="PingFang SC"/>
                <a:ea typeface="PingFang SC"/>
                <a:cs typeface="PingFang SC"/>
              </a:rPr>
              <a:t>候选池：1 个观察候选，核心池为空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137CFA-6AD6-4B2A-B76D-7AF7F141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67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28B3FD-909C-4B9D-BA28-9B35A1D7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7D3CF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C7D3CF"/>
                </a:solidFill>
                <a:latin typeface="PingFang SC"/>
                <a:ea typeface="PingFang SC"/>
                <a:cs typeface="PingFang SC"/>
              </a:rPr>
              <a:t>模拟盘：4 个持仓；实盘投影为空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30440-DEB7-40DC-9756-5E565791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200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A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D9BC70-A39C-4D28-BC42-0C8CC3D1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数据源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4C853C-A46B-4B97-9932-05BEC043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29275"/>
            <a:ext cx="514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92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0cd3301794f6c">
            <a:extLst>
              <a:ext uri="{96DAC541-7B7A-43D3-8B79-37D633B846F1}">
                <asvg:svgBlip xmlns:asvg="http://schemas.microsoft.com/office/drawing/2016/SVG/main" r:embed="Rf1b1373b1d574f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71750" y="5534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78C146-BA77-4294-B9D9-62936E5A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34000"/>
            <a:ext cx="1200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A"/>
          </a:solidFill>
          <a:ln xmlns:a="http://schemas.openxmlformats.org/drawingml/2006/main" w="14288">
            <a:solidFill>
              <a:srgbClr val="52785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A980A8-602A-4EA3-928C-E9E45C8C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4483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MySQL</a:t>
            </a:r>
          </a:p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事件内核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0B5937-2171-4579-A658-D8299504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629275"/>
            <a:ext cx="514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92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49c612d5f453c">
            <a:extLst>
              <a:ext uri="{96DAC541-7B7A-43D3-8B79-37D633B846F1}">
                <asvg:svgBlip xmlns:asvg="http://schemas.microsoft.com/office/drawing/2016/SVG/main" r:embed="Rc0a83365e1134c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86300" y="5534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5397EF-7E72-4027-B062-3F5942E6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334000"/>
            <a:ext cx="1200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A"/>
          </a:solidFill>
          <a:ln xmlns:a="http://schemas.openxmlformats.org/drawingml/2006/main" w="14288">
            <a:solidFill>
              <a:srgbClr val="B9852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625BB4-B2E3-447A-92F9-4C43E986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483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评分/风控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A7FA24-5E35-4E47-B456-AAFEF88A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29275"/>
            <a:ext cx="514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92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d81673b1b428b">
            <a:extLst>
              <a:ext uri="{96DAC541-7B7A-43D3-8B79-37D633B846F1}">
                <asvg:svgBlip xmlns:asvg="http://schemas.microsoft.com/office/drawing/2016/SVG/main" r:embed="Rc9dbf64659a048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00850" y="5534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D5B8AE-337F-4290-B797-04D32354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34000"/>
            <a:ext cx="1200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A"/>
          </a:solidFill>
          <a:ln xmlns:a="http://schemas.openxmlformats.org/drawingml/2006/main" w="14288">
            <a:solidFill>
              <a:srgbClr val="B4504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2621DA-AD1F-4547-819C-1524E0EB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483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人工确认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A46614-5917-4159-9C5D-3144B98F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29275"/>
            <a:ext cx="514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92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1dd30f3b04b1e">
            <a:extLst>
              <a:ext uri="{96DAC541-7B7A-43D3-8B79-37D633B846F1}">
                <asvg:svgBlip xmlns:asvg="http://schemas.microsoft.com/office/drawing/2016/SVG/main" r:embed="R00cf1b5f915749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15400" y="5534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01301B-1A76-473E-B21B-95080A39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34000"/>
            <a:ext cx="1200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A"/>
          </a:solidFill>
          <a:ln xmlns:a="http://schemas.openxmlformats.org/drawingml/2006/main" w="14288">
            <a:solidFill>
              <a:srgbClr val="2A6F9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B9A139-9A54-4ABB-AB95-D4A43A81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483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报告投影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A70D8E-59EE-48FB-8B47-2C747E75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9C5C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9C5C3"/>
                </a:solidFill>
                <a:latin typeface="PingFang SC"/>
                <a:ea typeface="PingFang SC"/>
                <a:cs typeface="PingFang SC"/>
              </a:rPr>
              <a:t>来源：atrade health/status/db check、docs/architecture、AGENTS.md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1E8414-0BC4-4D23-90DA-DF1F0E6E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C5C3"/>
                </a:solidFill>
                <a:latin typeface="SF Mono"/>
                <a:ea typeface="SF Mono"/>
                <a:cs typeface="SF Mono"/>
              </a:defRPr>
            </a:pPr>
            <a:r>
              <a:rPr sz="900" b="0">
                <a:solidFill>
                  <a:srgbClr val="B9C5C3"/>
                </a:solidFill>
                <a:latin typeface="SF Mono"/>
                <a:ea typeface="SF Mono"/>
                <a:cs typeface="SF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411828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2EEAD8-4CF3-492A-8F40-32952E3A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62DBB906-1E93-4E00-9727-2C25811F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B781CABB-D5AF-407E-B382-3245EDC7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系统边界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B8DEB-F02C-4A08-9291-19B69B38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defRPr>
            </a:pPr>
            <a:r>
              <a: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rPr>
              <a:t>闭环发生在运营层，实盘执行仍保留人工确认。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51B7B-7535-4E22-BBB8-1EEBFE5F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809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这不是“未完成的券商接入”，而是当前系统的安全边界：agent 可以分析、记录、审计，不能绕过人工确认直接实盘。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0668D-116C-43DF-A785-4EB9ADD7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6B87"/>
                </a:solidFill>
                <a:latin typeface="PingFang SC"/>
                <a:ea typeface="PingFang SC"/>
                <a:cs typeface="PingFang SC"/>
              </a:rPr>
              <a:t>系统自动化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A78D2-7BFC-4425-8FEE-506C7231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DE9CD-257D-4417-831F-0F9AF609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EF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01ED2-0CFD-498B-A693-2D832116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采集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002BA-1469-4D88-A3BC-5A43767B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AkShare / MX</a:t>
            </a:r>
          </a:p>
          <a:p xmlns:a="http://schemas.openxmlformats.org/drawingml/2006/main">
            <a:pPr algn="ctr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行情、资金流、舆情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7A243-360A-4557-A063-0D5AB4CE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575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5E001-C984-4EA0-BFA6-7F4F5739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EF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AFC54-2BF1-413A-A778-17CBDF40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31820-E9BF-42BE-BEE8-61DC6311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MySQL</a:t>
            </a:r>
          </a:p>
          <a:p xmlns:a="http://schemas.openxmlformats.org/drawingml/2006/main">
            <a:pPr algn="ctr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事件 + 运行日志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AE18F-9291-4FA9-B9FB-FB9DD8B8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575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0999C-A392-40CC-A0C2-B1B546CD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EF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14583-5B02-4F6B-BA3C-48AD3E73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099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9FCF6-EE5A-49A4-82B4-59960D67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385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候选池</a:t>
            </a:r>
          </a:p>
          <a:p xmlns:a="http://schemas.openxmlformats.org/drawingml/2006/main">
            <a:pPr algn="ctr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评分 / 风控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DBAA3-D314-4F4F-8BE3-61CA776B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575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526B0-6D51-49A3-8A20-9541BCC1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EF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25996-7F8E-42DC-B8DD-CFB942D6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AE86D-5CB8-4095-AD20-F7DC77E6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Discord / Obsidian</a:t>
            </a:r>
          </a:p>
          <a:p xmlns:a="http://schemas.openxmlformats.org/drawingml/2006/main">
            <a:pPr algn="ctr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报告投影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490F52-140B-450F-819E-A0C9433A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04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B45043"/>
                </a:solidFill>
                <a:latin typeface="PingFang SC"/>
                <a:ea typeface="PingFang SC"/>
                <a:cs typeface="PingFang SC"/>
              </a:rPr>
              <a:t>人工确认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3E796-C899-49E7-B3C7-E04ADB6A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990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450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6FEE9F-BC77-481E-9F08-BDA37E65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D9CCB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0BF3A-19E0-42C6-980C-267017C0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买入意向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A750AB-64BD-44E7-8754-84A2179C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911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只代表系统建议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33361A-8144-43B4-9EB4-2B991CC3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1625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AA2D83-D73B-4B10-8CC1-C3297214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7680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B450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23B769-A46A-45D9-9B4C-A46F88E7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人工下单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4672EC-58E4-4C5D-B76B-4CB8FEFD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911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实盘券商动作由人确认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CB2698-4507-415D-AB83-9294D134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625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B0CD19-23ED-4AAA-9FBE-6BBCFF7F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D9CCB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8F1741-F7E9-44BC-847F-EBCC8F91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720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record-buy/sell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500CBC-E513-4D4E-8A52-69C81B53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911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成交后写回本地状态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AF3285-6790-46EB-8E91-8A693C2B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625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43627A-04F8-435C-A09B-FF325DF7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D9CCB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552DBB-8FCC-4E10-9390-A198D598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一致性审计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AFE5DB-1126-4D80-9685-4A9D9877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911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事件历史对照人工成交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FD56E7-D499-4A1D-A8DE-E451653D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14450"/>
            <a:ext cx="2038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D2022D-161A-4654-8275-0A3C0F1A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33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1F19E4-A6EE-43A9-9683-F7062745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66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CLI/MCP 可自动读写允许状态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717A0F-7746-4FA1-B0E3-7E3809F3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19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C8693D-3FAF-4A98-99C1-900E2349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52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实盘下单不自动越界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8CAC1B-0787-40A0-8C6A-990501C9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rPr>
              <a:t>来源：AGENTS.md、atrade agent-context --json、manual-trades/status 命令边界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330215-83A6-4047-9C8D-5BD99C5B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7C"/>
                </a:solidFill>
                <a:latin typeface="SF Mono"/>
                <a:ea typeface="SF Mono"/>
                <a:cs typeface="SF Mono"/>
              </a:defRPr>
            </a:pPr>
            <a:r>
              <a:rPr sz="900" b="0">
                <a:solidFill>
                  <a:srgbClr val="7B817C"/>
                </a:solidFill>
                <a:latin typeface="SF Mono"/>
                <a:ea typeface="SF Mono"/>
                <a:cs typeface="SF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468991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A7C713-9C12-41F2-96F7-407B6A03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FB45C1F5-8EDA-404F-A71D-185AC31B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6E379639-09FA-4494-90F2-6F91D524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架构总览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2237A-BE65-4201-B211-FF0AD4A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95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defRPr>
            </a:pPr>
            <a:r>
              <a: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rPr>
              <a:t>六个 context 围绕 MySQL 事件内核运转。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EFA9F-4020-44F3-B388-6789F337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847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platform 负责入口、配置版本、运行生命周期和事件分发；strategy/risk 保持纯函数，execution/reporting 通过事件和投影衔接。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1660F-CFDB-48C3-BF51-1369229D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60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5"/>
          </a:solidFill>
          <a:ln xmlns:a="http://schemas.openxmlformats.org/drawingml/2006/main" w="12383">
            <a:solidFill>
              <a:srgbClr val="176B8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AFCDA-DBE5-4007-8432-57A815AE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B8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87"/>
                </a:solidFill>
                <a:latin typeface="PingFang SC"/>
                <a:ea typeface="PingFang SC"/>
                <a:cs typeface="PingFang SC"/>
              </a:rPr>
              <a:t>稳定入口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F8C02-681D-4139-B275-B2CAFAF8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atrade / bin/trade</a:t>
            </a:r>
          </a:p>
          <a:p xmlns:a="http://schemas.openxmlformats.org/drawingml/2006/main">
            <a:pPr algn="ctr">
              <a:defRPr sz="97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atrade mcp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34433-B637-4768-80AF-2E3C6F9B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4797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2458234124d26">
            <a:extLst>
              <a:ext uri="{96DAC541-7B7A-43D3-8B79-37D633B846F1}">
                <asvg:svgBlip xmlns:asvg="http://schemas.microsoft.com/office/drawing/2016/SVG/main" r:embed="R32ae7ac8dca04a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00400" y="27527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1AAF1-ECF7-4C92-8836-6007DA93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247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B"/>
          </a:solidFill>
          <a:ln xmlns:a="http://schemas.openxmlformats.org/drawingml/2006/main" w="11430">
            <a:solidFill>
              <a:srgbClr val="3157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2FDB7-9F40-426E-A294-4CC0D790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669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6DCF0-9FD8-410C-94F3-BF94A37A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717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AD6D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AD6D2"/>
                </a:solidFill>
                <a:latin typeface="PingFang SC"/>
                <a:ea typeface="PingFang SC"/>
                <a:cs typeface="PingFang SC"/>
              </a:rPr>
              <a:t>EventStore · ConfigRegistry</a:t>
            </a:r>
          </a:p>
          <a:p xmlns:a="http://schemas.openxmlformats.org/drawingml/2006/main">
            <a:pPr algn="ctr">
              <a:defRPr sz="975" b="0">
                <a:solidFill>
                  <a:srgbClr val="CAD6D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AD6D2"/>
                </a:solidFill>
                <a:latin typeface="PingFang SC"/>
                <a:ea typeface="PingFang SC"/>
                <a:cs typeface="PingFang SC"/>
              </a:rPr>
              <a:t>RunJournal · CLI · 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5CEB4-797A-407C-88C1-7C18E08F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861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A"/>
          </a:solidFill>
          <a:ln xmlns:a="http://schemas.openxmlformats.org/drawingml/2006/main" w="9525">
            <a:solidFill>
              <a:srgbClr val="5278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4E66B-C259-4809-B73F-735333AE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5277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MySQL Event Kernel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A43D0-D06E-4230-901A-3442859D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479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acbb690704aa4">
            <a:extLst>
              <a:ext uri="{96DAC541-7B7A-43D3-8B79-37D633B846F1}">
                <asvg:svgBlip xmlns:asvg="http://schemas.microsoft.com/office/drawing/2016/SVG/main" r:embed="R797ab28072ca41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15150" y="27527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7BA8D-F897-4A66-993B-DB35B021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145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领域能力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9BC78-7A2C-4104-990A-6339A946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165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176B8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2C935-69B1-4F95-AFEA-C25826BF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336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8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87"/>
                </a:solidFill>
                <a:latin typeface="PingFang SC"/>
                <a:ea typeface="PingFang SC"/>
                <a:cs typeface="PingFang SC"/>
              </a:rPr>
              <a:t>market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CD28C3-01E8-414A-B5BA-5941B951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813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行情 / 财报 / 资金流</a:t>
            </a:r>
          </a:p>
          <a:p xmlns:a="http://schemas.openxmlformats.org/drawingml/2006/main">
            <a:pPr algn="l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标准化与缓存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D0B09-0878-4E3A-850B-9CE9046C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00300"/>
            <a:ext cx="165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B985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E6EA1-4823-4F99-BDBA-D4A649AD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852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98524"/>
                </a:solidFill>
                <a:latin typeface="PingFang SC"/>
                <a:ea typeface="PingFang SC"/>
                <a:cs typeface="PingFang SC"/>
              </a:rPr>
              <a:t>strategy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18DB8C-0608-4F40-A6C0-03DF5A83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四维评分 / 决策</a:t>
            </a:r>
          </a:p>
          <a:p xmlns:a="http://schemas.openxmlformats.org/drawingml/2006/main">
            <a:pPr algn="l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风格与择时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5F95C8-085B-4006-B209-4EE9D6C0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57600"/>
            <a:ext cx="165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B450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40290-F027-4345-A992-8C766ACC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909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0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45043"/>
                </a:solidFill>
                <a:latin typeface="PingFang SC"/>
                <a:ea typeface="PingFang SC"/>
                <a:cs typeface="PingFang SC"/>
              </a:rPr>
              <a:t>risk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D482D1-283F-4D65-BEEF-01AD6C06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386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止损止盈 / sizing</a:t>
            </a:r>
          </a:p>
          <a:p xmlns:a="http://schemas.openxmlformats.org/drawingml/2006/main">
            <a:pPr algn="l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组合风控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6CC856-99C0-444A-8934-B72A212D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165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2A6F9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654054-E0A6-41C5-B787-8A322CA8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6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A6F97"/>
                </a:solidFill>
                <a:latin typeface="PingFang SC"/>
                <a:ea typeface="PingFang SC"/>
                <a:cs typeface="PingFang SC"/>
              </a:rPr>
              <a:t>execution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D77585-8CB7-4688-BF47-69630514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386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订单 / 持仓</a:t>
            </a:r>
          </a:p>
          <a:p xmlns:a="http://schemas.openxmlformats.org/drawingml/2006/main">
            <a:pPr algn="l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人工成交审计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0E45CB-691E-4B49-AA1A-85B40F82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76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6B4E7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631C8B-76FC-42E2-A284-2C3B777E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4820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4E7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B4E71"/>
                </a:solidFill>
                <a:latin typeface="PingFang SC"/>
                <a:ea typeface="PingFang SC"/>
                <a:cs typeface="PingFang SC"/>
              </a:rPr>
              <a:t>reporting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178C0A-A1E2-4135-9434-E87AF9CF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958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ProjectionUpdater · ReportGenerator</a:t>
            </a:r>
          </a:p>
          <a:p xmlns:a="http://schemas.openxmlformats.org/drawingml/2006/main">
            <a:pPr algn="ctr">
              <a:defRPr sz="900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Discord / Obsidian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06A2C2-03F4-45BC-B2B8-F2B092CC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3143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CC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93D8C8-5D27-4FE6-8729-51231BA7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rPr>
              <a:t>来源：docs/architecture/ARCHITECTURE.md；strategy/risk 纯函数边界按设计约束保留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C0C806-993D-4842-9778-4A96D9C5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7C"/>
                </a:solidFill>
                <a:latin typeface="SF Mono"/>
                <a:ea typeface="SF Mono"/>
                <a:cs typeface="SF Mono"/>
              </a:defRPr>
            </a:pPr>
            <a:r>
              <a:rPr sz="900" b="0">
                <a:solidFill>
                  <a:srgbClr val="7B817C"/>
                </a:solidFill>
                <a:latin typeface="SF Mono"/>
                <a:ea typeface="SF Mono"/>
                <a:cs typeface="SF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9373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B3F7AC-B9AB-4657-807B-AF2DA45F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D778F1BD-591A-49C4-9264-6B657FA0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C1D77491-E818-44D5-A56B-D1087F1F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事件内核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661B6-763D-4114-8F9A-A91960D1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defRPr>
            </a:pPr>
            <a:r>
              <a: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rPr>
              <a:t>event_log 是事实源，projection_* 是可重建视图。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0220D-D511-44A5-84F3-2513BF88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866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系统把运行、配置、评分、风控、订单和报告都落成事件或投影；projection 表可以由 event_log 重建，降低状态漂移风险。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744FF-94CF-4A08-8BFB-661B9FF3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765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B"/>
          </a:solidFill>
          <a:ln xmlns:a="http://schemas.openxmlformats.org/drawingml/2006/main" w="9525">
            <a:solidFill>
              <a:srgbClr val="31576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B1F92-D5B2-43CA-B8CE-4FBEEC99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Append-only 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131C7-FBF9-478F-AD88-DDDE7456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1809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DE8E4"/>
                </a:solidFill>
                <a:latin typeface="SF Mono"/>
                <a:ea typeface="SF Mono"/>
                <a:cs typeface="SF Mono"/>
              </a:defRPr>
            </a:pPr>
            <a:r>
              <a:rPr sz="1125" b="0">
                <a:solidFill>
                  <a:srgbClr val="DDE8E4"/>
                </a:solidFill>
                <a:latin typeface="SF Mono"/>
                <a:ea typeface="SF Mono"/>
                <a:cs typeface="SF Mono"/>
              </a:rPr>
              <a:t>event_log</a:t>
            </a:r>
          </a:p>
          <a:p xmlns:a="http://schemas.openxmlformats.org/drawingml/2006/main">
            <a:pPr algn="ctr">
              <a:defRPr sz="1125" b="0">
                <a:solidFill>
                  <a:srgbClr val="DDE8E4"/>
                </a:solidFill>
                <a:latin typeface="SF Mono"/>
                <a:ea typeface="SF Mono"/>
                <a:cs typeface="SF Mono"/>
              </a:defRPr>
            </a:pPr>
            <a:r>
              <a:rPr sz="1125" b="0">
                <a:solidFill>
                  <a:srgbClr val="DDE8E4"/>
                </a:solidFill>
                <a:latin typeface="SF Mono"/>
                <a:ea typeface="SF Mono"/>
                <a:cs typeface="SF Mono"/>
              </a:rPr>
              <a:t>stream + version</a:t>
            </a:r>
          </a:p>
          <a:p xmlns:a="http://schemas.openxmlformats.org/drawingml/2006/main">
            <a:pPr algn="ctr">
              <a:defRPr sz="1125" b="0">
                <a:solidFill>
                  <a:srgbClr val="DDE8E4"/>
                </a:solidFill>
                <a:latin typeface="SF Mono"/>
                <a:ea typeface="SF Mono"/>
                <a:cs typeface="SF Mono"/>
              </a:defRPr>
            </a:pPr>
            <a:r>
              <a:rPr sz="1125" b="0">
                <a:solidFill>
                  <a:srgbClr val="DDE8E4"/>
                </a:solidFill>
                <a:latin typeface="SF Mono"/>
                <a:ea typeface="SF Mono"/>
                <a:cs typeface="SF Mono"/>
              </a:rPr>
              <a:t>payload_json</a:t>
            </a:r>
          </a:p>
          <a:p xmlns:a="http://schemas.openxmlformats.org/drawingml/2006/main">
            <a:pPr algn="ctr">
              <a:defRPr sz="1125" b="0">
                <a:solidFill>
                  <a:srgbClr val="DDE8E4"/>
                </a:solidFill>
                <a:latin typeface="SF Mono"/>
                <a:ea typeface="SF Mono"/>
                <a:cs typeface="SF Mono"/>
              </a:defRPr>
            </a:pPr>
            <a:r>
              <a:rPr sz="1125" b="0">
                <a:solidFill>
                  <a:srgbClr val="DDE8E4"/>
                </a:solidFill>
                <a:latin typeface="SF Mono"/>
                <a:ea typeface="SF Mono"/>
                <a:cs typeface="SF Mono"/>
              </a:rPr>
              <a:t>metadata_json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3FAEF-F02A-45C3-9A86-6663A07E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57650"/>
            <a:ext cx="1428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DF8"/>
                </a:solidFill>
                <a:latin typeface="Songti SC"/>
                <a:ea typeface="Songti SC"/>
                <a:cs typeface="Songti SC"/>
              </a:defRPr>
            </a:pPr>
            <a:r>
              <a:rPr sz="2850" b="1">
                <a:solidFill>
                  <a:srgbClr val="FFFDF8"/>
                </a:solidFill>
                <a:latin typeface="Songti SC"/>
                <a:ea typeface="Songti SC"/>
                <a:cs typeface="Songti SC"/>
              </a:rPr>
              <a:t>3,472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2E828-A853-4DD5-8859-8CABD3C0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rPr>
              <a:t>当前事件数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2956A-C987-4F49-B1CD-F81EC358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052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48f6991674a23">
            <a:extLst>
              <a:ext uri="{96DAC541-7B7A-43D3-8B79-37D633B846F1}">
                <asvg:svgBlip xmlns:asvg="http://schemas.microsoft.com/office/drawing/2016/SVG/main" r:embed="R49ca181e43e64c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0050" y="34099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9007B-6E1D-444C-9C44-7F2F13C3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2609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10A0C-DA19-4940-A7B9-80CB527F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812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32025"/>
                </a:solidFill>
                <a:latin typeface="SF Mono"/>
                <a:ea typeface="SF Mono"/>
                <a:cs typeface="SF Mono"/>
              </a:defRPr>
            </a:pPr>
            <a:r>
              <a:rPr sz="1013" b="1">
                <a:solidFill>
                  <a:srgbClr val="132025"/>
                </a:solidFill>
                <a:latin typeface="SF Mono"/>
                <a:ea typeface="SF Mono"/>
                <a:cs typeface="SF Mono"/>
              </a:rPr>
              <a:t>config_versions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353E0-328E-461D-8CE2-85385BEA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0985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冻结每次 run 的参数版本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51D7D-2157-4D0E-8575-E4A8A117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62300"/>
            <a:ext cx="2609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3F902-81A4-4801-9571-19CFF2A0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766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32025"/>
                </a:solidFill>
                <a:latin typeface="SF Mono"/>
                <a:ea typeface="SF Mono"/>
                <a:cs typeface="SF Mono"/>
              </a:defRPr>
            </a:pPr>
            <a:r>
              <a:rPr sz="1013" b="1">
                <a:solidFill>
                  <a:srgbClr val="132025"/>
                </a:solidFill>
                <a:latin typeface="SF Mono"/>
                <a:ea typeface="SF Mono"/>
                <a:cs typeface="SF Mono"/>
              </a:rPr>
              <a:t>run_log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76F00-BC51-47B2-BC27-02450B5C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052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记录 started/completed/failed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D0EC9-4557-4C44-8CBB-76DF9368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57650"/>
            <a:ext cx="2609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31BEC-39D5-4242-ADD7-778FCF43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719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32025"/>
                </a:solidFill>
                <a:latin typeface="SF Mono"/>
                <a:ea typeface="SF Mono"/>
                <a:cs typeface="SF Mono"/>
              </a:defRPr>
            </a:pPr>
            <a:r>
              <a:rPr sz="1013" b="1">
                <a:solidFill>
                  <a:srgbClr val="132025"/>
                </a:solidFill>
                <a:latin typeface="SF Mono"/>
                <a:ea typeface="SF Mono"/>
                <a:cs typeface="SF Mono"/>
              </a:rPr>
              <a:t>market_observations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0D478-70F6-4C4E-B72E-CC80D2A0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0055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行情、资金流、新闻、财报观测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858BC-62BB-4FB9-A3E5-2A4DA291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52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ae54ec0384957">
            <a:extLst>
              <a:ext uri="{96DAC541-7B7A-43D3-8B79-37D633B846F1}">
                <asvg:svgBlip xmlns:asvg="http://schemas.microsoft.com/office/drawing/2016/SVG/main" r:embed="R1ff19951d3e343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72450" y="34099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B0D157-9022-47E8-B972-0368A4F2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09800"/>
            <a:ext cx="26098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A6F9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27AB5-2361-4227-A814-92BDC3D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6F9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A6F97"/>
                </a:solidFill>
                <a:latin typeface="PingFang SC"/>
                <a:ea typeface="PingFang SC"/>
                <a:cs typeface="PingFang SC"/>
              </a:rPr>
              <a:t>可重建投影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5F3A30-4E8D-421C-8838-F5863AA3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146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5D6B68"/>
                </a:solidFill>
                <a:latin typeface="SF Mono"/>
                <a:ea typeface="SF Mono"/>
                <a:cs typeface="SF Mono"/>
              </a:defRPr>
            </a:pPr>
            <a:r>
              <a:rPr sz="923" b="0">
                <a:solidFill>
                  <a:srgbClr val="5D6B68"/>
                </a:solidFill>
                <a:latin typeface="SF Mono"/>
                <a:ea typeface="SF Mono"/>
                <a:cs typeface="SF Mono"/>
              </a:rPr>
              <a:t>projection_positions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4F8163-13EE-4ED8-9709-073BC0D9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0040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5D6B68"/>
                </a:solidFill>
                <a:latin typeface="SF Mono"/>
                <a:ea typeface="SF Mono"/>
                <a:cs typeface="SF Mono"/>
              </a:defRPr>
            </a:pPr>
            <a:r>
              <a:rPr sz="923" b="0">
                <a:solidFill>
                  <a:srgbClr val="5D6B68"/>
                </a:solidFill>
                <a:latin typeface="SF Mono"/>
                <a:ea typeface="SF Mono"/>
                <a:cs typeface="SF Mono"/>
              </a:rPr>
              <a:t>projection_orders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E95FCF-043E-4D05-9F02-B096CE3B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861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5D6B68"/>
                </a:solidFill>
                <a:latin typeface="SF Mono"/>
                <a:ea typeface="SF Mono"/>
                <a:cs typeface="SF Mono"/>
              </a:defRPr>
            </a:pPr>
            <a:r>
              <a:rPr sz="923" b="0">
                <a:solidFill>
                  <a:srgbClr val="5D6B68"/>
                </a:solidFill>
                <a:latin typeface="SF Mono"/>
                <a:ea typeface="SF Mono"/>
                <a:cs typeface="SF Mono"/>
              </a:rPr>
              <a:t>projection_balances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51CDE1-CAB4-4BB7-9048-75848705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7190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B98524"/>
                </a:solidFill>
                <a:latin typeface="SF Mono"/>
                <a:ea typeface="SF Mono"/>
                <a:cs typeface="SF Mono"/>
              </a:defRPr>
            </a:pPr>
            <a:r>
              <a:rPr sz="923" b="0">
                <a:solidFill>
                  <a:srgbClr val="B98524"/>
                </a:solidFill>
                <a:latin typeface="SF Mono"/>
                <a:ea typeface="SF Mono"/>
                <a:cs typeface="SF Mono"/>
              </a:rPr>
              <a:t>projection_candidate_pool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B8CDE9-B555-4ABA-9176-F612C12B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576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5D6B68"/>
                </a:solidFill>
                <a:latin typeface="SF Mono"/>
                <a:ea typeface="SF Mono"/>
                <a:cs typeface="SF Mono"/>
              </a:defRPr>
            </a:pPr>
            <a:r>
              <a:rPr sz="923" b="0">
                <a:solidFill>
                  <a:srgbClr val="5D6B68"/>
                </a:solidFill>
                <a:latin typeface="SF Mono"/>
                <a:ea typeface="SF Mono"/>
                <a:cs typeface="SF Mono"/>
              </a:rPr>
              <a:t>report_artifacts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01B113-6613-4744-8BB4-49EADCA4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1960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7439D3-417C-4634-8E1C-ABC2D9F9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24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672ABD-011C-4CF8-9E47-39028F73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57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db check：13 项 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036718-DB31-4FC5-8E35-2486FBC9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57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B8F933-8960-4BC0-A12B-99C006B3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设计含义：报告错了可以重放，投影脏了可以重建；真正不可丢的是事件事实、配置版本和运行记录。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EE20C4-61F8-47CC-B243-2E8BF2C1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rPr>
              <a:t>来源：docs/architecture/DATA_MODEL.md、atrade db check --json、atrade health --json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82B04F-E739-4F3F-B37A-E0318D2C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7C"/>
                </a:solidFill>
                <a:latin typeface="SF Mono"/>
                <a:ea typeface="SF Mono"/>
                <a:cs typeface="SF Mono"/>
              </a:defRPr>
            </a:pPr>
            <a:r>
              <a:rPr sz="900" b="0">
                <a:solidFill>
                  <a:srgbClr val="7B817C"/>
                </a:solidFill>
                <a:latin typeface="SF Mono"/>
                <a:ea typeface="SF Mono"/>
                <a:cs typeface="SF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1094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D4A05D-1451-4339-B894-54FD3A8E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C1DEED91-481F-47D1-B1A6-41A657F9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52D60F61-027A-4633-80F4-7CB046FE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健康检查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97269-DC92-476A-A826-21E016A8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defRPr>
            </a:pPr>
            <a:r>
              <a: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rPr>
              <a:t>健康检查在区分运行完整性和信号质量。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B8700-524B-4771-806B-22D87C3B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当前 runtime 能连接 MySQL，最近 run 无失败；warning 主要来自候选池新鲜度和核心池为空，不能被解读成系统整体不可用。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8A049-361F-4AE7-B157-0F93D51F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35242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97E40-DA16-47A6-8CCE-58FCD84C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运行完整性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D4BB0-8D76-4479-934B-C3899281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95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77DB8-559B-4EF5-B4FA-F02BC067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MySQL schema v3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3B02C-D18B-4A86-9124-136E1AEC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19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C9BDD-04DA-444E-AA91-DA5EFF7D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3 天失败 run：0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7FB07-E5B9-46B1-9D62-266A3CE1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43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49F78-AD0A-4E2C-B829-6B108EFF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running / stale running：0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21B6E-906E-4D22-AACA-2F6991C3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048FF-A9EB-49DC-A0DA-59BBBA74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required_missing：0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C1A8B-D23D-4DF4-9034-74D6EF89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2724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5A7B6-E9FF-49A2-B5C6-36549467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250621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9547F-E68D-4E11-A5AF-C422A356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77069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核心数据源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0B350-7B73-4EAE-8B7B-1FE398DD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872" y="4362450"/>
            <a:ext cx="87172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无必需缺口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768B6-3F40-4339-9BDA-882C2073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43150"/>
            <a:ext cx="30099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B985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F15CE-349C-4FCE-BB47-C160629F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85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98524"/>
                </a:solidFill>
                <a:latin typeface="PingFang SC"/>
                <a:ea typeface="PingFang SC"/>
                <a:cs typeface="PingFang SC"/>
              </a:rPr>
              <a:t>信号质量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7DEE5-74DF-4144-BAF2-08207E8A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95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A51A12-6B22-4092-AFCF-A64E3181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候选池新鲜度：27.82 小时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C7D6B5-C5DC-44F2-BE1B-FF8C87C3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97401-F212-4983-8B51-EF8C5B7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52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核心池：0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62BCC6-BA83-427A-B2D6-9E7E3057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43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B9D9B5-D926-426F-B2CE-3B3776F0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76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观察候选：1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04A138-1DA3-4157-85AD-C2F84D2B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91050"/>
            <a:ext cx="2247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A0E261-79CF-42CE-AB26-64A38699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91050"/>
            <a:ext cx="94411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C7795B-9919-44AE-9234-07B3A58B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62450"/>
            <a:ext cx="146113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候选覆盖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1209C8-F651-4AE0-B759-69746D27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622" y="4362450"/>
            <a:ext cx="71932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偏窄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E2C085-74E0-4BA1-8C6B-3F4E007C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30099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5"/>
          </a:solidFill>
          <a:ln xmlns:a="http://schemas.openxmlformats.org/drawingml/2006/main" w="9525">
            <a:solidFill>
              <a:srgbClr val="3157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325033-82F3-44D2-A657-05AB4464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运营判断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A7A4D8-3FFC-401F-A96B-FC8B0C88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AD6D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AD6D2"/>
                </a:solidFill>
                <a:latin typeface="PingFang SC"/>
                <a:ea typeface="PingFang SC"/>
                <a:cs typeface="PingFang SC"/>
              </a:rPr>
              <a:t>可以继续跑健康检查、数据刷新、评分和报告；但当前不应把观察候选包装成买入意向。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50156A-3007-436F-BABF-10CC556E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57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C5921B-5909-4A28-8571-EA6C64FA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053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结论：运行 rails 领先于 alpha rails。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FC681C-477B-4D93-9F4B-9A2A5BC1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rPr>
              <a:t>来源：atrade health --json；状态翻译：warning=需关注，required_missing=必需数据缺口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9576DF-A41B-40AA-A8F8-AE473B7A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7C"/>
                </a:solidFill>
                <a:latin typeface="SF Mono"/>
                <a:ea typeface="SF Mono"/>
                <a:cs typeface="SF Mono"/>
              </a:defRPr>
            </a:pPr>
            <a:r>
              <a:rPr sz="900" b="0">
                <a:solidFill>
                  <a:srgbClr val="7B817C"/>
                </a:solidFill>
                <a:latin typeface="SF Mono"/>
                <a:ea typeface="SF Mono"/>
                <a:cs typeface="SF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980564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07DCE0-709B-4333-9A85-32C3D78D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873444F3-BA97-43A6-8E85-98E5A6AB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977F1E22-0369-4266-9A42-3AB1680B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选股与评分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48B80-B905-4A3A-81A7-192EE9FB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defRPr>
            </a:pPr>
            <a:r>
              <a: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rPr>
              <a:t>当前选股状态是观察，不是买入意向。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19C89-A959-4A3A-A29A-00E9D459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候选池只把股票推进到“观察/核心/买入意向”的前置状态；买入还要求入场信号、数据质量和缺失字段 gate 全部满足。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B9709-216E-4E2C-B5F3-DCDA34B5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176B8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1F23C-58E1-488C-9CE4-EB7EEE15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76B87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6B87"/>
                </a:solidFill>
                <a:latin typeface="PingFang SC"/>
                <a:ea typeface="PingFang SC"/>
                <a:cs typeface="PingFang SC"/>
              </a:rPr>
              <a:t>问句/过滤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D04ED-13F6-40D7-A36E-C7D762EA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MX query + fallback</a:t>
            </a:r>
          </a:p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价格/成交额/市值/MA20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236EC-CCE2-4D03-ACAA-6E098945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71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90CA1-DE92-42DD-B2CB-2AA00D75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765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176B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B7ACF-5879-4D4C-9BD8-CE9D9BDA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670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76B87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6B87"/>
                </a:solidFill>
                <a:latin typeface="PingFang SC"/>
                <a:ea typeface="PingFang SC"/>
                <a:cs typeface="PingFang SC"/>
              </a:rPr>
              <a:t>扫描上限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34A4D-DED3-49A1-8DBD-54C3AD17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market_scan_limit</a:t>
            </a:r>
          </a:p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300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D28DB-6B4C-4201-86AE-126549ED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71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26BF6-34F0-4D6B-8B74-B5A39860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765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B985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4FB9C-B66E-4014-B40D-B6691CB7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B9852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B98524"/>
                </a:solidFill>
                <a:latin typeface="PingFang SC"/>
                <a:ea typeface="PingFang SC"/>
                <a:cs typeface="PingFang SC"/>
              </a:rPr>
              <a:t>观察池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D4B0D-4775-415B-91B7-421E81E0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score &gt;= 5</a:t>
            </a:r>
          </a:p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可跟踪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583B3-D315-47E1-829B-12888AAE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14EDB-1CFF-466B-BD91-32FDB130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B985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C2D00-AFA0-4CCD-BD45-CF09B256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670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B98524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B98524"/>
                </a:solidFill>
                <a:latin typeface="PingFang SC"/>
                <a:ea typeface="PingFang SC"/>
                <a:cs typeface="PingFang SC"/>
              </a:rPr>
              <a:t>核心池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52C09-4820-4A0C-A25F-16E8D48E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score &gt;= 6</a:t>
            </a:r>
          </a:p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连续达标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F4BA37-D308-4520-8B70-85875A26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826876-DEE8-4106-8DD4-C44AB617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B450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A37416-D478-4F2D-B79E-9F4D52C6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B4504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B45043"/>
                </a:solidFill>
                <a:latin typeface="PingFang SC"/>
                <a:ea typeface="PingFang SC"/>
                <a:cs typeface="PingFang SC"/>
              </a:rPr>
              <a:t>买入意向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52D605-E979-4410-8AC1-1D75355C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入场信号 + 数据质量</a:t>
            </a:r>
          </a:p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通过后仍需确认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85CD21-47AA-496B-B880-BA2406AD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4591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9852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912938-FCAE-4F25-BA60-103956C2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当前候选快照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018C33-AC39-4D54-BEF6-004D5186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1238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025"/>
                </a:solidFill>
                <a:latin typeface="Songti SC"/>
                <a:ea typeface="Songti SC"/>
                <a:cs typeface="Songti SC"/>
              </a:defRPr>
            </a:pPr>
            <a:r>
              <a:rPr sz="2250" b="1">
                <a:solidFill>
                  <a:srgbClr val="132025"/>
                </a:solidFill>
                <a:latin typeface="Songti SC"/>
                <a:ea typeface="Songti SC"/>
                <a:cs typeface="Songti SC"/>
              </a:rPr>
              <a:t>300558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AEE049-0C84-4433-BDA1-DE90192F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577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贝达药业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446E41-CF8B-4017-8830-E0DDE161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48200"/>
            <a:ext cx="781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98524"/>
                </a:solidFill>
                <a:latin typeface="Songti SC"/>
                <a:ea typeface="Songti SC"/>
                <a:cs typeface="Songti SC"/>
              </a:defRPr>
            </a:pPr>
            <a:r>
              <a:rPr sz="2400" b="1">
                <a:solidFill>
                  <a:srgbClr val="B98524"/>
                </a:solidFill>
                <a:latin typeface="Songti SC"/>
                <a:ea typeface="Songti SC"/>
                <a:cs typeface="Songti SC"/>
              </a:rPr>
              <a:t>5.1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F0C097-A329-4274-B1F2-C7DF74F6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863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评分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378B9F-BAD2-4ABB-8661-5D65919D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48200"/>
            <a:ext cx="876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8524"/>
                </a:solidFill>
                <a:latin typeface="Songti SC"/>
                <a:ea typeface="Songti SC"/>
                <a:cs typeface="Songti SC"/>
              </a:defRPr>
            </a:pPr>
            <a:r>
              <a:rPr sz="2250" b="1">
                <a:solidFill>
                  <a:srgbClr val="B98524"/>
                </a:solidFill>
                <a:latin typeface="Songti SC"/>
                <a:ea typeface="Songti SC"/>
                <a:cs typeface="Songti SC"/>
              </a:rPr>
              <a:t>观察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6B8790-033E-429A-84EC-98534F3E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5777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pool tier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7B8934-8A41-4488-B274-6C747CA0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434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5D6B68"/>
                </a:solidFill>
                <a:latin typeface="SF Mono"/>
                <a:ea typeface="SF Mono"/>
                <a:cs typeface="SF Mono"/>
              </a:defRPr>
            </a:pPr>
            <a:r>
              <a:rPr sz="863" b="0">
                <a:solidFill>
                  <a:srgbClr val="5D6B68"/>
                </a:solidFill>
                <a:latin typeface="SF Mono"/>
                <a:ea typeface="SF Mono"/>
                <a:cs typeface="SF Mono"/>
              </a:rPr>
              <a:t>last_scored_at：2026-05-16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4721D7-8B02-4534-8BCF-72A3DA29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52959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B"/>
          </a:solidFill>
          <a:ln xmlns:a="http://schemas.openxmlformats.org/drawingml/2006/main" w="9525">
            <a:solidFill>
              <a:srgbClr val="3157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28DA9B-4A63-4EC0-BC48-F8B02A4E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买入 gate 仍然卡住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48C4E3-658E-4EC7-9E62-61C3822F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52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DE10FC-0403-498E-952F-2FB3C9FA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6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rPr>
              <a:t>必须有入场信号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7B392E-9406-486E-9159-35143D07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52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C52CB2-4F3E-42A9-9678-CDAB0420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6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rPr>
              <a:t>数据质量至少 ok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EB1171-44C8-4510-B2C8-3632D311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57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2A9EFB-8916-4888-BF45-0CB0680E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91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rPr>
              <a:t>关键字段不能缺失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A0CE62-FC4A-4FDA-95B8-4E17DF88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57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35D631-774A-437C-BDE5-761457F3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911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rPr>
              <a:t>仓位 sizing 不能为 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F623E3-63B4-4D63-AFFF-E324B3FB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rPr>
              <a:t>来源：atrade screener candidates --json、atrade diagnose strategy --json；展示值已转为中文运营语义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110E81-293E-4EBB-8506-482B3F91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7C"/>
                </a:solidFill>
                <a:latin typeface="SF Mono"/>
                <a:ea typeface="SF Mono"/>
                <a:cs typeface="SF Mono"/>
              </a:defRPr>
            </a:pPr>
            <a:r>
              <a:rPr sz="900" b="0">
                <a:solidFill>
                  <a:srgbClr val="7B817C"/>
                </a:solidFill>
                <a:latin typeface="SF Mono"/>
                <a:ea typeface="SF Mono"/>
                <a:cs typeface="SF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494662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C505A2-2B27-46DD-9463-4495D24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D5E1B6EE-BA1F-4A46-A0DF-C66B38BF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1B18173F-762B-45EB-BADC-D342B7B2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风控与执行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3B737-564B-4A5E-960D-9BE47650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defRPr>
            </a:pPr>
            <a:r>
              <a: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rPr>
              <a:t>风控 gate 把买入意向压到可确认动作之前。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B922E-02B9-4204-B9E5-DEB5367A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策略先提出意图，风控再决定仓位和约束；模拟盘可自动验证，实盘仍通过人工成交写回与一致性审计闭环。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E28D7-73BF-41DD-A12A-6A65205B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466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B450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C4485-D992-4290-9121-41B38B18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50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45043"/>
                </a:solidFill>
                <a:latin typeface="PingFang SC"/>
                <a:ea typeface="PingFang SC"/>
                <a:cs typeface="PingFang SC"/>
              </a:rPr>
              <a:t>入场信号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5C4C7-B6C7-43EE-8101-993AAE52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必须出现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AC6E2-26A6-48F3-9D1F-CB4B5734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956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1796A-3863-4B88-8CC1-D31A0B79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95550"/>
            <a:ext cx="1466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B450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BCB37-9D09-4DD7-AF75-D95E3B8A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860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50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45043"/>
                </a:solidFill>
                <a:latin typeface="PingFang SC"/>
                <a:ea typeface="PingFang SC"/>
                <a:cs typeface="PingFang SC"/>
              </a:rPr>
              <a:t>数据质量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434E4-5236-440A-931E-CBFC10ED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7180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至少 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D8311-418F-46AB-A26D-5FAEA466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956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FAE9B-447F-42DD-8FBB-7E9E40C6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1466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B450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19A30-C84D-4178-83C7-31727649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50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45043"/>
                </a:solidFill>
                <a:latin typeface="PingFang SC"/>
                <a:ea typeface="PingFang SC"/>
                <a:cs typeface="PingFang SC"/>
              </a:rPr>
              <a:t>字段完整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CE011-D0B8-4E1F-A61D-05F51278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7180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max missing =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5D2AD-1A7A-4C65-A39C-DD28FB47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57CA1-3575-45AA-A290-C2483F95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95550"/>
            <a:ext cx="1466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B45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F3ECB-D2A6-4013-9E06-134C39BC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860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50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45043"/>
                </a:solidFill>
                <a:latin typeface="PingFang SC"/>
                <a:ea typeface="PingFang SC"/>
                <a:cs typeface="PingFang SC"/>
              </a:rPr>
              <a:t>仓位计算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FD1FC9-D09F-4743-A5A8-AF3387D7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min position 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BD1BF-D005-4B6B-8CF6-9ECBBC2E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F07FA-1B23-4BDB-A8A9-95ADFE1E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95550"/>
            <a:ext cx="1466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B985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3C4D4-2D7F-49BA-8C94-30557F05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52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98524"/>
                </a:solidFill>
                <a:latin typeface="PingFang SC"/>
                <a:ea typeface="PingFang SC"/>
                <a:cs typeface="PingFang SC"/>
              </a:rPr>
              <a:t>交易窗口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358EB-12CA-471D-81DC-CA9D1B8D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7180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买 09:45-14:30</a:t>
            </a:r>
          </a:p>
          <a:p xmlns:a="http://schemas.openxmlformats.org/drawingml/2006/main">
            <a:pPr algn="ctr">
              <a:def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卖 09:35-14:50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58DDD3-6D01-4D76-97AC-F7AC812D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447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A6F9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15ABE-88C8-41AD-B57B-A9859F6F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6F9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A6F97"/>
                </a:solidFill>
                <a:latin typeface="PingFang SC"/>
                <a:ea typeface="PingFang SC"/>
                <a:cs typeface="PingFang SC"/>
              </a:rPr>
              <a:t>模拟盘验证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439909-648B-4F1D-87F7-D7CD2A80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A6F97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2A6F97"/>
                </a:solidFill>
                <a:latin typeface="Songti SC"/>
                <a:ea typeface="Songti SC"/>
                <a:cs typeface="Songti S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C00543-F2D5-485E-86F9-F893D6A1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模拟盘持仓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4EE57D-69AD-4FFD-AC6D-1EBA6718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52950"/>
            <a:ext cx="1104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025"/>
                </a:solidFill>
                <a:latin typeface="Songti SC"/>
                <a:ea typeface="Songti SC"/>
                <a:cs typeface="Songti SC"/>
              </a:defRPr>
            </a:pPr>
            <a:r>
              <a:rPr sz="2250" b="1">
                <a:solidFill>
                  <a:srgbClr val="132025"/>
                </a:solidFill>
                <a:latin typeface="Songti SC"/>
                <a:ea typeface="Songti SC"/>
                <a:cs typeface="Songti SC"/>
              </a:rPr>
              <a:t>205,212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557FD3-979E-4D33-BD31-DF06D03B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6252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总资产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9EBA16-5E14-4BFC-8454-5C5091F3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52950"/>
            <a:ext cx="952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025"/>
                </a:solidFill>
                <a:latin typeface="Songti SC"/>
                <a:ea typeface="Songti SC"/>
                <a:cs typeface="Songti SC"/>
              </a:defRPr>
            </a:pPr>
            <a:r>
              <a:rPr sz="2250" b="1">
                <a:solidFill>
                  <a:srgbClr val="132025"/>
                </a:solidFill>
                <a:latin typeface="Songti SC"/>
                <a:ea typeface="Songti SC"/>
                <a:cs typeface="Songti SC"/>
              </a:rPr>
              <a:t>56,059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E1CCDA-CA81-4EA2-B42D-165CE299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625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市值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DC81AE-EDC0-4F1A-86B0-93BFB436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38600"/>
            <a:ext cx="4495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B"/>
          </a:solidFill>
          <a:ln xmlns:a="http://schemas.openxmlformats.org/drawingml/2006/main" w="9525">
            <a:solidFill>
              <a:srgbClr val="3157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AA2C00-F851-4A98-B0C0-80C1D76E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实盘边界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145A48-BB4E-4EC0-ADAD-05D01CEF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95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B20930-73FF-4881-9D33-A7FC5F48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29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rPr>
              <a:t>atrade status：本地实盘投影 0 持仓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4AAC02-F6AC-4BE0-9170-DF73A038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9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A3ABD9-DA8B-4FF8-A23F-A930E98F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3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rPr>
              <a:t>真实券商动作：人工确认后再 record-buy / record-sell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41A2B3-71E7-4929-9EA9-1EFB64F3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690DFB-ABED-41DB-8A1E-2C81ABBA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67400"/>
            <a:ext cx="923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关键语义：买入意向不是下单；模拟盘收益不是实盘收益；人工成交写回后才进入本地审计链。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6F740E-F4E2-4073-9BAA-33E64DF8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rPr>
              <a:t>来源：atrade diagnose strategy/status/paper status；auto_trade dry_run=true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6EDF96-3567-4EDA-8B95-35924659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7C"/>
                </a:solidFill>
                <a:latin typeface="SF Mono"/>
                <a:ea typeface="SF Mono"/>
                <a:cs typeface="SF Mono"/>
              </a:defRPr>
            </a:pPr>
            <a:r>
              <a:rPr sz="900" b="0">
                <a:solidFill>
                  <a:srgbClr val="7B817C"/>
                </a:solidFill>
                <a:latin typeface="SF Mono"/>
                <a:ea typeface="SF Mono"/>
                <a:cs typeface="SF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538483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D669AB-1042-4C75-8164-9A198B3E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C561A21A-0FC4-4788-943B-FB7DC4BF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46E2C472-02F9-4755-BD2F-CD0B4EB2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自动化节奏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6C1EB-CE52-48E2-B836-EF3B0F67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defRPr>
            </a:pPr>
            <a:r>
              <a: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rPr>
              <a:t>cron、CLI 和 MCP 让系统可被 agent 稳定运行。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94393-4692-4BAF-A964-55BCE6AA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日内任务按交易时段切开：盘前摘要、午休检查、盘中轮巡、模拟盘自动交易、收盘报告、核心池评分和周报。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AAA9D-7C5E-4232-899E-DD53F919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948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AA72D-3831-4A49-8B09-4AE0E5D0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2895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AEFC9-73EC-4C8A-9808-DEEAF711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747DF-A411-486E-8EA2-A624F57E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B8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6B87"/>
                </a:solidFill>
                <a:latin typeface="PingFang SC"/>
                <a:ea typeface="PingFang SC"/>
                <a:cs typeface="PingFang SC"/>
              </a:rPr>
              <a:t>08:25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56205-CEEA-45D4-B2C9-92E225CE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盘前摘要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B8780-D62F-4877-B2F7-6E7B4496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run-pipeline</a:t>
            </a:r>
          </a:p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morning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50DA5-54FA-4D97-8B1C-F4A35CDE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08F9A-50B6-4D4D-B341-C97E9576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952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F87A4-9BA7-4DA2-9C9E-90F95496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003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B8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6B87"/>
                </a:solidFill>
                <a:latin typeface="PingFang SC"/>
                <a:ea typeface="PingFang SC"/>
                <a:cs typeface="PingFang SC"/>
              </a:rPr>
              <a:t>11:55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001B8-AD5F-4582-9E1A-AFEB4468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67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午休检查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A6E4E-4912-4622-8F6E-1A9F8762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9095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run-pipeline</a:t>
            </a:r>
          </a:p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noon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3C07B-0EC5-4722-8EF1-06AB0A27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33AD3-18B2-48FE-B64E-90AEC402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52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1F41E-0AEB-40C0-9008-072CCEDE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85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98524"/>
                </a:solidFill>
                <a:latin typeface="PingFang SC"/>
                <a:ea typeface="PingFang SC"/>
                <a:cs typeface="PingFang SC"/>
              </a:rPr>
              <a:t>09:35-14:55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87540-5172-40DC-B9FB-8C4A353E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67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盘中轮巡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6FF05-D272-4084-B0E8-391D28E6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每 5 分钟</a:t>
            </a:r>
          </a:p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intraday_monitor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B7FEB-05E5-49EC-AC4C-34E4B37D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E950F-D2C3-412D-9426-950A2098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952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8D3F4A-8EB3-4810-BA00-59446B98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504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45043"/>
                </a:solidFill>
                <a:latin typeface="PingFang SC"/>
                <a:ea typeface="PingFang SC"/>
                <a:cs typeface="PingFang SC"/>
              </a:rPr>
              <a:t>14:00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AD1CB-052E-40C5-A1D1-2335D042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模拟盘交易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D85252-97CC-4F07-BEA1-10B30AF3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9095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auto_trade</a:t>
            </a:r>
          </a:p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受 gate 约束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76D71C-1879-4D67-9FEA-08307BE0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5504E-B756-457A-B31A-56224EA5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52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512813-A02E-423A-811F-0627E6E1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03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6F9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A6F97"/>
                </a:solidFill>
                <a:latin typeface="PingFang SC"/>
                <a:ea typeface="PingFang SC"/>
                <a:cs typeface="PingFang SC"/>
              </a:rPr>
              <a:t>15:35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DCCECC-5A04-49D2-A6E2-25DB4A56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67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收盘报告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7165DE-03FE-4658-96EF-3ED6160D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9095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run-pipeline</a:t>
            </a:r>
          </a:p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evening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EC8DA2-1426-4044-9C21-2460CFDA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2895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926C19-838D-4980-B0C6-46609170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952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BBC15F-36FA-45C0-B7D2-DE059F78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6F9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A6F97"/>
                </a:solidFill>
                <a:latin typeface="PingFang SC"/>
                <a:ea typeface="PingFang SC"/>
                <a:cs typeface="PingFang SC"/>
              </a:rPr>
              <a:t>15:40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08955C-027B-4242-97D6-BDAB1C02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核心池评分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D7C68E-D0D8-4266-9516-ABCAA8ED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9095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run-pipeline</a:t>
            </a:r>
          </a:p>
          <a:p xmlns:a="http://schemas.openxmlformats.org/drawingml/2006/main">
            <a:pPr algn="ctr">
              <a:def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scoring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3ED108-ECEF-4182-832B-FD758EE9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4400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DF0BC0-6CCF-47E6-B0C2-2871AA3D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每日任务统一走 atrade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675282-1B23-44F3-910A-F17376F8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生产和 agent 场景不需要 cd 进 repo；全局 atrade 会按运行配置路径加载 .env。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4758EA-258D-4CFA-A91B-6F807714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86300"/>
            <a:ext cx="4400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B"/>
          </a:solidFill>
          <a:ln xmlns:a="http://schemas.openxmlformats.org/drawingml/2006/main" w="9525">
            <a:solidFill>
              <a:srgbClr val="3157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E63FD2-D803-4EEB-A2E9-1F3058A7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MCP 是同一套能力的 agent 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B1DC20-3AE2-442E-ABAB-0F7DD436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10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54A4D8-CBCD-4790-B0C9-311E8C3C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435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rPr>
              <a:t>read_only / analysis 可自动读或分析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E28882-C473-485E-B533-DBF76DEA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76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7C66E9-2EDC-478F-AFBE-804ACA44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102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rPr>
              <a:t>state_change / high_risk 需确认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2D47CA-A7CE-497E-890E-4AC4B293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rPr>
              <a:t>来源：config/astock_trading_crontab_v2、docs/operations/RUNBOOK.md、config/mcp_server.yaml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8E203E-5094-45F3-96DA-E7ADF068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7C"/>
                </a:solidFill>
                <a:latin typeface="SF Mono"/>
                <a:ea typeface="SF Mono"/>
                <a:cs typeface="SF Mono"/>
              </a:defRPr>
            </a:pPr>
            <a:r>
              <a:rPr sz="900" b="0">
                <a:solidFill>
                  <a:srgbClr val="7B817C"/>
                </a:solidFill>
                <a:latin typeface="SF Mono"/>
                <a:ea typeface="SF Mono"/>
                <a:cs typeface="SF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75346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2FFFE0-6194-4FBD-BBD7-B22A4091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8E4AA3A2-27DC-4372-85A2-D8D52C2C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73A1F574-0ECA-4B0B-BB21-36874C00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Agent 操作面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26DD3-D8AC-4B5B-AD0D-0244554B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defRPr>
            </a:pPr>
            <a:r>
              <a:rPr sz="2850" b="1">
                <a:solidFill>
                  <a:srgbClr val="132025"/>
                </a:solidFill>
                <a:latin typeface="Songti SC"/>
                <a:ea typeface="Songti SC"/>
                <a:cs typeface="Songti SC"/>
              </a:rPr>
              <a:t>agent 只应通过稳定命令和 JSON 操作系统。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5F79F-F2FD-4B7E-B675-E09E3BB7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源码模块是内部实现，不是操作入口。给 agent 的接口应是 atrade/bin/trade、MCP 和明确的 --json 输出。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B25C5-C320-49F6-B876-298F2BDB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0289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176B8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1689F-88E3-499F-8F12-F6CCEC19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8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B87"/>
                </a:solidFill>
                <a:latin typeface="PingFang SC"/>
                <a:ea typeface="PingFang SC"/>
                <a:cs typeface="PingFang SC"/>
              </a:rPr>
              <a:t>允许入口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1BDAD-79D7-4EED-B771-47D19C4F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025"/>
                </a:solidFill>
                <a:latin typeface="SF Mono"/>
                <a:ea typeface="SF Mono"/>
                <a:cs typeface="SF Mono"/>
              </a:defRPr>
            </a:pPr>
            <a:r>
              <a:rPr sz="1125" b="0">
                <a:solidFill>
                  <a:srgbClr val="132025"/>
                </a:solidFill>
                <a:latin typeface="SF Mono"/>
                <a:ea typeface="SF Mono"/>
                <a:cs typeface="SF Mono"/>
              </a:rPr>
              <a:t>atrade ...</a:t>
            </a:r>
          </a:p>
          <a:p xmlns:a="http://schemas.openxmlformats.org/drawingml/2006/main">
            <a:pPr algn="l">
              <a:defRPr sz="1125" b="0">
                <a:solidFill>
                  <a:srgbClr val="132025"/>
                </a:solidFill>
                <a:latin typeface="SF Mono"/>
                <a:ea typeface="SF Mono"/>
                <a:cs typeface="SF Mono"/>
              </a:defRPr>
            </a:pPr>
            <a:r>
              <a:rPr sz="1125" b="0">
                <a:solidFill>
                  <a:srgbClr val="132025"/>
                </a:solidFill>
                <a:latin typeface="SF Mono"/>
                <a:ea typeface="SF Mono"/>
                <a:cs typeface="SF Mono"/>
              </a:rPr>
              <a:t>atrade mcp</a:t>
            </a:r>
          </a:p>
          <a:p xmlns:a="http://schemas.openxmlformats.org/drawingml/2006/main">
            <a:pPr algn="l">
              <a:defRPr sz="1125" b="0">
                <a:solidFill>
                  <a:srgbClr val="132025"/>
                </a:solidFill>
                <a:latin typeface="SF Mono"/>
                <a:ea typeface="SF Mono"/>
                <a:cs typeface="SF Mono"/>
              </a:defRPr>
            </a:pPr>
            <a:r>
              <a:rPr sz="1125" b="0">
                <a:solidFill>
                  <a:srgbClr val="132025"/>
                </a:solidFill>
                <a:latin typeface="SF Mono"/>
                <a:ea typeface="SF Mono"/>
                <a:cs typeface="SF Mono"/>
              </a:rPr>
              <a:t>bin/trade ...</a:t>
            </a:r>
          </a:p>
          <a:p xmlns:a="http://schemas.openxmlformats.org/drawingml/2006/main">
            <a:pPr algn="l">
              <a:defRPr sz="1125" b="0">
                <a:solidFill>
                  <a:srgbClr val="132025"/>
                </a:solidFill>
                <a:latin typeface="SF Mono"/>
                <a:ea typeface="SF Mono"/>
                <a:cs typeface="SF Mono"/>
              </a:defRPr>
            </a:pPr>
            <a:r>
              <a:rPr sz="1125" b="0">
                <a:solidFill>
                  <a:srgbClr val="132025"/>
                </a:solidFill>
                <a:latin typeface="SF Mono"/>
                <a:ea typeface="SF Mono"/>
                <a:cs typeface="SF Mono"/>
              </a:rPr>
              <a:t>bin/trade mcp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2080B-1644-417D-AD0E-B4538BEB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95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6B92A-BA6A-4696-82FC-0C441421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适合 Hermes / OpenClaw / Codex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84C40-6FBD-4AB9-9E63-26B2C8B8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00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62F44-028A-412C-B92A-DE5499ED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机器消费默认使用 --json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7751B-D214-43FA-B8A0-988EE642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30289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B450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0714B-16BB-4EF4-B44D-E4F8D46F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0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45043"/>
                </a:solidFill>
                <a:latin typeface="PingFang SC"/>
                <a:ea typeface="PingFang SC"/>
                <a:cs typeface="PingFang SC"/>
              </a:rPr>
              <a:t>禁止入口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10CE5-90CC-4F04-B44E-2A344B71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9085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45043"/>
                </a:solidFill>
                <a:latin typeface="SF Mono"/>
                <a:ea typeface="SF Mono"/>
                <a:cs typeface="SF Mono"/>
              </a:defRPr>
            </a:pPr>
            <a:r>
              <a:rPr sz="1013" b="0">
                <a:solidFill>
                  <a:srgbClr val="B45043"/>
                </a:solidFill>
                <a:latin typeface="SF Mono"/>
                <a:ea typeface="SF Mono"/>
                <a:cs typeface="SF Mono"/>
              </a:rPr>
              <a:t>src/astock_trading/**/*.py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6F271-DAF3-42CA-B492-4B82E6BB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这些文件是内部模块，不能直接当运维脚本运行；否则会绕过配置、事件和治理边界。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66965-B231-4528-B85A-E95099B6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00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5FBB6-6983-4672-A5F8-D2ACE9F0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33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不要使用 --db-path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E745A-ADB1-4157-855D-08A67D68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0289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B"/>
          </a:solidFill>
          <a:ln xmlns:a="http://schemas.openxmlformats.org/drawingml/2006/main" w="9525">
            <a:solidFill>
              <a:srgbClr val="3157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A82DA0-CC32-4E3F-82BF-7417D283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高信号 JSON 命令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A0833-6A7C-460D-A2FB-2353C38E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95600"/>
            <a:ext cx="2419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DE8E4"/>
                </a:solidFill>
                <a:latin typeface="SF Mono"/>
                <a:ea typeface="SF Mono"/>
                <a:cs typeface="SF Mono"/>
              </a:defRPr>
            </a:pPr>
            <a:r>
              <a:rPr sz="945" b="0">
                <a:solidFill>
                  <a:srgbClr val="DDE8E4"/>
                </a:solidFill>
                <a:latin typeface="SF Mono"/>
                <a:ea typeface="SF Mono"/>
                <a:cs typeface="SF Mono"/>
              </a:rPr>
              <a:t>atrade health --json</a:t>
            </a:r>
          </a:p>
          <a:p xmlns:a="http://schemas.openxmlformats.org/drawingml/2006/main">
            <a:pPr algn="l">
              <a:defRPr sz="945" b="0">
                <a:solidFill>
                  <a:srgbClr val="DDE8E4"/>
                </a:solidFill>
                <a:latin typeface="SF Mono"/>
                <a:ea typeface="SF Mono"/>
                <a:cs typeface="SF Mono"/>
              </a:defRPr>
            </a:pPr>
            <a:r>
              <a:rPr sz="945" b="0">
                <a:solidFill>
                  <a:srgbClr val="DDE8E4"/>
                </a:solidFill>
                <a:latin typeface="SF Mono"/>
                <a:ea typeface="SF Mono"/>
                <a:cs typeface="SF Mono"/>
              </a:rPr>
              <a:t>atrade diagnose strategy --json</a:t>
            </a:r>
          </a:p>
          <a:p xmlns:a="http://schemas.openxmlformats.org/drawingml/2006/main">
            <a:pPr algn="l">
              <a:defRPr sz="945" b="0">
                <a:solidFill>
                  <a:srgbClr val="DDE8E4"/>
                </a:solidFill>
                <a:latin typeface="SF Mono"/>
                <a:ea typeface="SF Mono"/>
                <a:cs typeface="SF Mono"/>
              </a:defRPr>
            </a:pPr>
            <a:r>
              <a:rPr sz="945" b="0">
                <a:solidFill>
                  <a:srgbClr val="DDE8E4"/>
                </a:solidFill>
                <a:latin typeface="SF Mono"/>
                <a:ea typeface="SF Mono"/>
                <a:cs typeface="SF Mono"/>
              </a:rPr>
              <a:t>atrade screener candidates --json</a:t>
            </a:r>
          </a:p>
          <a:p xmlns:a="http://schemas.openxmlformats.org/drawingml/2006/main">
            <a:pPr algn="l">
              <a:defRPr sz="945" b="0">
                <a:solidFill>
                  <a:srgbClr val="DDE8E4"/>
                </a:solidFill>
                <a:latin typeface="SF Mono"/>
                <a:ea typeface="SF Mono"/>
                <a:cs typeface="SF Mono"/>
              </a:defRPr>
            </a:pPr>
            <a:r>
              <a:rPr sz="945" b="0">
                <a:solidFill>
                  <a:srgbClr val="DDE8E4"/>
                </a:solidFill>
                <a:latin typeface="SF Mono"/>
                <a:ea typeface="SF Mono"/>
                <a:cs typeface="SF Mono"/>
              </a:rPr>
              <a:t>atrade status --json</a:t>
            </a:r>
          </a:p>
          <a:p xmlns:a="http://schemas.openxmlformats.org/drawingml/2006/main">
            <a:pPr algn="l">
              <a:defRPr sz="945" b="0">
                <a:solidFill>
                  <a:srgbClr val="DDE8E4"/>
                </a:solidFill>
                <a:latin typeface="SF Mono"/>
                <a:ea typeface="SF Mono"/>
                <a:cs typeface="SF Mono"/>
              </a:defRPr>
            </a:pPr>
            <a:r>
              <a:rPr sz="945" b="0">
                <a:solidFill>
                  <a:srgbClr val="DDE8E4"/>
                </a:solidFill>
                <a:latin typeface="SF Mono"/>
                <a:ea typeface="SF Mono"/>
                <a:cs typeface="SF Mono"/>
              </a:rPr>
              <a:t>atrade db check --json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C9E36-F811-43A7-9789-AD35716C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CAD6D2"/>
                </a:solidFill>
                <a:latin typeface="PingFang SC"/>
                <a:ea typeface="PingFang SC"/>
                <a:cs typeface="PingFang SC"/>
              </a:rPr>
              <a:t>写入类命令必须显式确认，例如 record-buy / record-sell --yes --json。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DAC07-D479-4903-B1A6-86F37DB1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34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E39A0-E59B-4A3B-8204-5A5984E1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运行数据库通过 ASTOCK_DATABASE_URL 指向 MySQL；SQLite 只保留给测试替身和历史迁移源。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F862D0-6FC0-4573-962A-A48964A8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17C"/>
                </a:solidFill>
                <a:latin typeface="PingFang SC"/>
                <a:ea typeface="PingFang SC"/>
                <a:cs typeface="PingFang SC"/>
              </a:rPr>
              <a:t>来源：AGENTS.md、atrade agent-context --json、docs/operations/RUNBOOK.md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605BD3-61FC-4990-81FD-621F4F0B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7C"/>
                </a:solidFill>
                <a:latin typeface="SF Mono"/>
                <a:ea typeface="SF Mono"/>
                <a:cs typeface="SF Mono"/>
              </a:defRPr>
            </a:pPr>
            <a:r>
              <a:rPr sz="900" b="0">
                <a:solidFill>
                  <a:srgbClr val="7B817C"/>
                </a:solidFill>
                <a:latin typeface="SF Mono"/>
                <a:ea typeface="SF Mono"/>
                <a:cs typeface="SF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72142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3987F4-353D-4FF4-A277-58826543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6D87A618-085E-46EB-9B86-E62A4055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DA016CB7-CD45-4354-AAD3-51D725C3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D3C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7D3CF"/>
                </a:solidFill>
                <a:latin typeface="PingFang SC"/>
                <a:ea typeface="PingFang SC"/>
                <a:cs typeface="PingFang SC"/>
              </a:rPr>
              <a:t>下一阶段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CD9E4-0B1E-4D81-83CA-30472655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DF8"/>
                </a:solidFill>
                <a:latin typeface="Songti SC"/>
                <a:ea typeface="Songti SC"/>
                <a:cs typeface="Songti SC"/>
              </a:defRPr>
            </a:pPr>
            <a:r>
              <a:rPr sz="3000" b="1">
                <a:solidFill>
                  <a:srgbClr val="FFFDF8"/>
                </a:solidFill>
                <a:latin typeface="Songti SC"/>
                <a:ea typeface="Songti SC"/>
                <a:cs typeface="Songti SC"/>
              </a:rPr>
              <a:t>下一阶段应先补强信号质量，再考虑更高自动化。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E3779-D9CB-49B0-B1C4-AE79CD0A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5C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9C5C3"/>
                </a:solidFill>
                <a:latin typeface="PingFang SC"/>
                <a:ea typeface="PingFang SC"/>
                <a:cs typeface="PingFang SC"/>
              </a:rPr>
              <a:t>现在的工程 rails 已经能审计、回放和交给 agent 操作；短板更集中在候选发现、路线化评分和数据新鲜度。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403D0-407D-4C0A-9F6D-05CE5B4B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028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176B8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891B4-39E8-4481-A3AD-0B4846CE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B87"/>
                </a:solidFill>
                <a:latin typeface="PingFang SC"/>
                <a:ea typeface="PingFang SC"/>
                <a:cs typeface="PingFang SC"/>
              </a:rPr>
              <a:t>1. 发现层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48EC9-8FA1-4BF1-AE55-40F03A32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扩大候选来源，但继续保留质量 gate。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72BAC-1681-4985-9CF6-36571ABF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60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5E335-DD89-469B-A4A2-58C4A29C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5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02644-83D8-46A5-8DEB-9FF5BC5E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多源候选发现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E960D-1382-49E1-A784-4F8305B5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9F48F-C658-4DB8-80F3-CA802CF4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候选池刷新前置化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6DF27-8D2B-4384-8A1C-99271A2D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04096-6C08-4724-8117-D83C8E70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观察 / 核心 / 买入意向分层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9163D-DB7F-44F6-A13F-26DF7B23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3028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B985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7286F-9CC9-46EA-B5F0-E36889F1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28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85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98524"/>
                </a:solidFill>
                <a:latin typeface="PingFang SC"/>
                <a:ea typeface="PingFang SC"/>
                <a:cs typeface="PingFang SC"/>
              </a:rPr>
              <a:t>2. 评分层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45EE8-502E-4AD3-9873-7944EC72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5275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把默认混合参数拆成明确策略路线。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9865C-CEDA-4BE0-88B4-9205522D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29000"/>
            <a:ext cx="260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5382F-A6A7-4D93-B6CD-9B74F81A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05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7DB0F7-B77F-465D-A2CB-5D98A35E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385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trend_swing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CE73FA-919F-449A-95D9-C5743AED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67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3F9A9A-47F3-4FD7-8CDC-841C1A3A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0050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short_continuation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C02E1F-A084-4573-AF72-29D1B4E4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29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810C50-A10D-481B-BC00-8B93F944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624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defensive_watch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121ECC-41B2-49C2-9853-05A8892B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3028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B450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1BCCA0-586A-447B-975A-8C9EAA49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28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0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45043"/>
                </a:solidFill>
                <a:latin typeface="PingFang SC"/>
                <a:ea typeface="PingFang SC"/>
                <a:cs typeface="PingFang SC"/>
              </a:rPr>
              <a:t>3. 运营层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8A4F2A-7227-4584-8F3A-0511F34D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B68"/>
                </a:solidFill>
                <a:latin typeface="PingFang SC"/>
                <a:ea typeface="PingFang SC"/>
                <a:cs typeface="PingFang SC"/>
              </a:rPr>
              <a:t>让自动化先提升可靠性，不越过人工边界。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32F423-18BE-46EA-A697-B915B09B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260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55AE18-FDE3-4642-A19A-E5BE2A26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05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71BA9E-18E7-4644-A75B-2C7A5C5D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385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数据源新鲜度告警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A4523-17BC-4F7E-9C20-B2E77AAD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67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E7A5E0-0E6D-4F1E-92F6-431004D4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手工成交一致性审计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D86DB-2DDE-4C31-9596-48A58200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29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CD1FC6-D4A5-40F1-8F0F-E59D5526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624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32025"/>
                </a:solidFill>
                <a:latin typeface="PingFang SC"/>
                <a:ea typeface="PingFang SC"/>
                <a:cs typeface="PingFang SC"/>
              </a:rPr>
              <a:t>报告投影质量检查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A922DE-39DD-4F31-8E9A-E89AE0D5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A"/>
          </a:solidFill>
          <a:ln xmlns:a="http://schemas.openxmlformats.org/drawingml/2006/main" w="9525">
            <a:solidFill>
              <a:srgbClr val="3157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B9092B-A8A4-4499-96AA-D31F4CC3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666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DF8"/>
                </a:solidFill>
                <a:latin typeface="Songti SC"/>
                <a:ea typeface="Songti SC"/>
                <a:cs typeface="Songti SC"/>
              </a:defRPr>
            </a:pPr>
            <a:r>
              <a:rPr sz="2250" b="1">
                <a:solidFill>
                  <a:srgbClr val="FFFDF8"/>
                </a:solidFill>
                <a:latin typeface="Songti SC"/>
                <a:ea typeface="Songti SC"/>
                <a:cs typeface="Songti SC"/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4700B8-DE5A-4745-81B3-152B87FA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626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rPr>
              <a:t>当前核心池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4D8907-0CE2-4BEC-B1DC-BF578B08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5305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DF8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FFFDF8"/>
                </a:solidFill>
                <a:latin typeface="Songti SC"/>
                <a:ea typeface="Songti SC"/>
                <a:cs typeface="Songti SC"/>
              </a:rPr>
              <a:t>27.82h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30EDA2-1931-4BFF-8B9A-D8EB762B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150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rPr>
              <a:t>候选池年龄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81F434-37B7-4656-BEC3-E035009E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53050"/>
            <a:ext cx="704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DF8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FFFDF8"/>
                </a:solidFill>
                <a:latin typeface="Songti SC"/>
                <a:ea typeface="Songti SC"/>
                <a:cs typeface="Songti SC"/>
              </a:rPr>
              <a:t>dry_run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FBFA01-3AEF-4958-AEC0-392B6F06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48325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rPr>
              <a:t>自动交易</a:t>
            </a:r>
          </a:p>
          <a:p xmlns:a="http://schemas.openxmlformats.org/drawingml/2006/main">
            <a:pPr algn="ctr">
              <a:def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B9C5C3"/>
                </a:solidFill>
                <a:latin typeface="PingFang SC"/>
                <a:ea typeface="PingFang SC"/>
                <a:cs typeface="PingFang SC"/>
              </a:rPr>
              <a:t>模式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921C63-6926-49D1-BDCD-AD9C1810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292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结论：系统闭环已经足够支撑人机协作；短期不要把“接券商实盘”当成优化目标。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F6AF17-92A5-437D-8836-99FB3A28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9C5C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9C5C3"/>
                </a:solidFill>
                <a:latin typeface="PingFang SC"/>
                <a:ea typeface="PingFang SC"/>
                <a:cs typeface="PingFang SC"/>
              </a:rPr>
              <a:t>来源：atrade health/diagnose strategy；路线图按当前系统边界总结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D5DB03-0BE0-49D0-9C57-D5ABA955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C5C3"/>
                </a:solidFill>
                <a:latin typeface="SF Mono"/>
                <a:ea typeface="SF Mono"/>
                <a:cs typeface="SF Mono"/>
              </a:defRPr>
            </a:pPr>
            <a:r>
              <a:rPr sz="900" b="0">
                <a:solidFill>
                  <a:srgbClr val="B9C5C3"/>
                </a:solidFill>
                <a:latin typeface="SF Mono"/>
                <a:ea typeface="SF Mono"/>
                <a:cs typeface="SF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61661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2026-05-17T04:00:59.7250000Z</dcterms:created>
  <dcterms:modified xsi:type="dcterms:W3CDTF">2026-05-17T04:00:59.7250000Z</dcterms:modified>
</coreProperties>
</file>